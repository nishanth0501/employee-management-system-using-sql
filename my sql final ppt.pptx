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8" r:id="rId3"/>
    <p:sldId id="299" r:id="rId4"/>
    <p:sldId id="260" r:id="rId5"/>
    <p:sldId id="261" r:id="rId6"/>
    <p:sldId id="280" r:id="rId7"/>
    <p:sldId id="262" r:id="rId8"/>
    <p:sldId id="263" r:id="rId9"/>
    <p:sldId id="273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96" r:id="rId18"/>
    <p:sldId id="297" r:id="rId19"/>
    <p:sldId id="279" r:id="rId20"/>
    <p:sldId id="277" r:id="rId21"/>
    <p:sldId id="303" r:id="rId22"/>
    <p:sldId id="278" r:id="rId23"/>
    <p:sldId id="281" r:id="rId24"/>
    <p:sldId id="259" r:id="rId25"/>
  </p:sldIdLst>
  <p:sldSz cx="12192000" cy="6858000"/>
  <p:notesSz cx="6858000" cy="9144000"/>
  <p:embeddedFontLst>
    <p:embeddedFont>
      <p:font typeface="Libre Baskerville" panose="02000000000000000000" pitchFamily="2" charset="0"/>
      <p:regular r:id="rId27"/>
      <p:bold r:id="rId28"/>
      <p: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3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644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5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8092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060357"/>
            <a:ext cx="7246189" cy="206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br>
              <a:rPr lang="en-IN" sz="40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IN" sz="4400" b="1" dirty="0"/>
              <a:t>Employee Management System</a:t>
            </a:r>
            <a:endParaRPr sz="4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A57451-C640-9BC9-EA4A-3C2CA71DF307}"/>
              </a:ext>
            </a:extLst>
          </p:cNvPr>
          <p:cNvSpPr txBox="1"/>
          <p:nvPr/>
        </p:nvSpPr>
        <p:spPr>
          <a:xfrm>
            <a:off x="8727564" y="5122420"/>
            <a:ext cx="29595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Presented By :</a:t>
            </a:r>
          </a:p>
          <a:p>
            <a:r>
              <a:rPr lang="en-US" sz="2400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M.Nishanth</a:t>
            </a:r>
            <a:r>
              <a:rPr lang="en-US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Reddy</a:t>
            </a:r>
          </a:p>
          <a:p>
            <a:r>
              <a:rPr lang="en-US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Batch No: 456</a:t>
            </a:r>
            <a:endParaRPr lang="en-IN" sz="24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C00000"/>
                </a:solidFill>
              </a:rPr>
              <a:t>Agenda</a:t>
            </a:r>
            <a:endParaRPr b="1" dirty="0">
              <a:solidFill>
                <a:srgbClr val="C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08549-085D-6ADE-9F7F-A076701C6C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35661" y="1930808"/>
            <a:ext cx="4102405" cy="3831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 of the Project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 Tables Overview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 Diagram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Relationship Between Tables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Query Results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Challenges Faced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Business Insights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A5519-8286-60C5-4AF8-BB1432B09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C00000"/>
                </a:solidFill>
              </a:rPr>
              <a:t>BUSINESS PROBLEM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2F4E85-D64F-5FFF-FA50-048116BDF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26499"/>
            <a:ext cx="10515600" cy="4550464"/>
          </a:xfrm>
        </p:spPr>
        <p:txBody>
          <a:bodyPr/>
          <a:lstStyle/>
          <a:p>
            <a:pPr marL="114300" indent="0">
              <a:buNone/>
            </a:pPr>
            <a:endParaRPr lang="en-US" dirty="0"/>
          </a:p>
          <a:p>
            <a:r>
              <a:rPr lang="en-US" dirty="0"/>
              <a:t>Organizations face challenges in managing </a:t>
            </a:r>
            <a:r>
              <a:rPr lang="en-US" b="1" dirty="0"/>
              <a:t>employee, salary, and leave data</a:t>
            </a:r>
            <a:r>
              <a:rPr lang="en-US" dirty="0"/>
              <a:t> in a centralized system.</a:t>
            </a:r>
          </a:p>
          <a:p>
            <a:r>
              <a:rPr lang="en-US" dirty="0"/>
              <a:t>Lack of database integration limits visibility into </a:t>
            </a:r>
            <a:r>
              <a:rPr lang="en-US" b="1" dirty="0"/>
              <a:t>department-wise workforce and payroll analysis</a:t>
            </a:r>
            <a:r>
              <a:rPr lang="en-US" dirty="0"/>
              <a:t>.</a:t>
            </a:r>
          </a:p>
          <a:p>
            <a:r>
              <a:rPr lang="en-US" dirty="0"/>
              <a:t>Management requires clear insights into </a:t>
            </a:r>
            <a:r>
              <a:rPr lang="en-US" b="1" dirty="0"/>
              <a:t>compensation, bonuses, and qualifications</a:t>
            </a:r>
            <a:r>
              <a:rPr lang="en-US" dirty="0"/>
              <a:t> for informed decision-making.</a:t>
            </a:r>
          </a:p>
          <a:p>
            <a:r>
              <a:rPr lang="en-US" dirty="0"/>
              <a:t>Without analytical reporting, controlling </a:t>
            </a:r>
            <a:r>
              <a:rPr lang="en-US" b="1" dirty="0"/>
              <a:t>payroll costs and workforce planning</a:t>
            </a:r>
            <a:r>
              <a:rPr lang="en-US" dirty="0"/>
              <a:t> becomes difficult.</a:t>
            </a:r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2762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26534-D6A9-682B-1B77-2C0F8DA5E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885" y="-148515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Introduction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4E447E-33F9-83E3-668C-E22C7D0CE1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911473"/>
            <a:ext cx="10615915" cy="5359853"/>
          </a:xfrm>
        </p:spPr>
        <p:txBody>
          <a:bodyPr>
            <a:normAutofit/>
          </a:bodyPr>
          <a:lstStyle/>
          <a:p>
            <a:r>
              <a:rPr lang="en-US" sz="2600" dirty="0"/>
              <a:t>The </a:t>
            </a:r>
            <a:r>
              <a:rPr lang="en-US" sz="2600" b="1" dirty="0"/>
              <a:t>Employee Management System (EMS)</a:t>
            </a:r>
            <a:r>
              <a:rPr lang="en-US" sz="2600" dirty="0"/>
              <a:t> is a </a:t>
            </a:r>
            <a:r>
              <a:rPr lang="en-US" sz="2600" b="1" dirty="0"/>
              <a:t>SQL-based relational database project</a:t>
            </a:r>
            <a:r>
              <a:rPr lang="en-US" sz="2600" dirty="0"/>
              <a:t> designed to manage and analyze employee-related data efficiently.</a:t>
            </a:r>
          </a:p>
          <a:p>
            <a:r>
              <a:rPr lang="en-US" sz="2600" dirty="0"/>
              <a:t>It integrates key components such as </a:t>
            </a:r>
            <a:r>
              <a:rPr lang="en-US" sz="2600" b="1" dirty="0"/>
              <a:t>departments, job roles, salary structures, qualifications, leave records, and payroll processing</a:t>
            </a:r>
            <a:r>
              <a:rPr lang="en-US" sz="2600" dirty="0"/>
              <a:t> into a centralized system.</a:t>
            </a:r>
          </a:p>
          <a:p>
            <a:r>
              <a:rPr lang="en-US" sz="2600" dirty="0"/>
              <a:t>The project applies core concepts like </a:t>
            </a:r>
            <a:r>
              <a:rPr lang="en-US" sz="2600" b="1" dirty="0"/>
              <a:t>primary and foreign keys, normalization, constraints, joins, and aggregations</a:t>
            </a:r>
            <a:r>
              <a:rPr lang="en-US" sz="2600" dirty="0"/>
              <a:t> to ensure data integrity and accurate reporting.</a:t>
            </a:r>
          </a:p>
          <a:p>
            <a:r>
              <a:rPr lang="en-US" sz="2600" dirty="0"/>
              <a:t>Through structured SQL analysis, the system provides </a:t>
            </a:r>
            <a:r>
              <a:rPr lang="en-US" sz="2600" b="1" dirty="0"/>
              <a:t>workforce insights, compensation trends, and payroll analytics</a:t>
            </a:r>
            <a:r>
              <a:rPr lang="en-US" sz="2600" dirty="0"/>
              <a:t>, supporting informed managerial decision-making.</a:t>
            </a:r>
          </a:p>
          <a:p>
            <a:pPr>
              <a:lnSpc>
                <a:spcPct val="110000"/>
              </a:lnSpc>
            </a:pPr>
            <a:endParaRPr lang="en-US" sz="2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6798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DC845-237E-D4A4-2B64-71D4837AD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Objective of the Project 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1B9D7E5-1A95-A599-210C-530D5809A2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92881" y="1562758"/>
            <a:ext cx="10806238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 a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RELATIONAL DATABASE SCHEMA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PRIMARY &amp; FOREIGN KEY RELATIONSHIPS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 data from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CSV FILES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Write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ANALYTICAL SQL QUERIES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HR &amp; PAYROLL DATA ANALYSIS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3067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6C3F9-8C62-45FE-63B3-C920AB5C0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6" y="0"/>
            <a:ext cx="10515600" cy="1367007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 Database – Tables Overview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34E1ED-F4F1-5B84-3C50-C7E217E8E981}"/>
              </a:ext>
            </a:extLst>
          </p:cNvPr>
          <p:cNvSpPr txBox="1"/>
          <p:nvPr/>
        </p:nvSpPr>
        <p:spPr>
          <a:xfrm>
            <a:off x="607667" y="1037200"/>
            <a:ext cx="958483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1. EMPLOYEE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Personal details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Contact information</a:t>
            </a:r>
          </a:p>
          <a:p>
            <a:r>
              <a:rPr lang="en-US" sz="2000" b="1" dirty="0"/>
              <a:t>2. JOB_DEPARTMENTS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Department details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Job designations</a:t>
            </a:r>
          </a:p>
          <a:p>
            <a:r>
              <a:rPr lang="en-US" sz="2000" b="1" dirty="0"/>
              <a:t>3. QUALIFICATION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Skills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Certifications</a:t>
            </a:r>
          </a:p>
          <a:p>
            <a:r>
              <a:rPr lang="en-US" sz="2000" b="1" dirty="0"/>
              <a:t>4. SALARYBONUS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Salary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Bonus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Annual pay</a:t>
            </a:r>
          </a:p>
          <a:p>
            <a:r>
              <a:rPr lang="en-US" sz="2000" b="1" dirty="0"/>
              <a:t>5. LEAVES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Employee absence records</a:t>
            </a:r>
          </a:p>
          <a:p>
            <a:r>
              <a:rPr lang="en-US" sz="2000" b="1" dirty="0"/>
              <a:t>6. PAYROLL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Final salary calculation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Deductions applied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95E8EEB-4CBC-4853-5F22-3249D4C57A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3537348"/>
            <a:ext cx="1091952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4439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D232E-3E84-4B5D-E220-8282513C8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805" y="-235974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ER DIAGRAM</a:t>
            </a:r>
            <a:endParaRPr lang="en-IN" b="1" dirty="0">
              <a:solidFill>
                <a:srgbClr val="C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8AF091-0C2E-6255-C42A-A51581271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8519" y="708427"/>
            <a:ext cx="6996010" cy="5906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868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775B4-CAA2-A066-9848-5FF3E3CAE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CARDINALITIES	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966F5B8-6ADE-8BC4-D55F-C5C45DEA56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51489" y="1959882"/>
            <a:ext cx="10191244" cy="33168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 DIAGRAM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shows the relationship between tables:</a:t>
            </a:r>
          </a:p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ONE-TO-MANY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Job Department → Employee</a:t>
            </a:r>
          </a:p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ONE-TO-MANY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Employee → Leaves</a:t>
            </a:r>
          </a:p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ONE-TO-MANY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Employee → Qualification</a:t>
            </a:r>
          </a:p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ONE-TO-MANY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Job Department → Salary Bonus</a:t>
            </a:r>
          </a:p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PAYROLL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connects all major entities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Ensures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INTEGRITY &amp; CONSISTENCY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46131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01F12-4732-34C3-1346-4BEEA69D7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750" y="197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Which departments have the highest number of employees?</a:t>
            </a:r>
            <a:endParaRPr lang="en-IN" sz="3600" b="1" dirty="0">
              <a:solidFill>
                <a:srgbClr val="C0000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376BC19-48D1-CB7D-5605-C03EF2E88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50" y="1819266"/>
            <a:ext cx="4953691" cy="17909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F8872D9-511A-746F-0B13-CAA258E75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50" y="4101940"/>
            <a:ext cx="2876951" cy="221010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AB6E5B6-D01B-3266-A6D0-DF79F1760C16}"/>
              </a:ext>
            </a:extLst>
          </p:cNvPr>
          <p:cNvSpPr txBox="1"/>
          <p:nvPr/>
        </p:nvSpPr>
        <p:spPr>
          <a:xfrm>
            <a:off x="5638441" y="1618208"/>
            <a:ext cx="612769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</a:t>
            </a:r>
            <a:b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have the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employee count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indicating strong focus on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technical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financial operations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  <a:b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workforce distribution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balanced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with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 departments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receiving greater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staffing support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01941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20A0B-6C7D-FB88-DF5C-1566B7EB5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What is the average salary per department?</a:t>
            </a:r>
            <a:endParaRPr lang="en-IN" b="1" dirty="0">
              <a:solidFill>
                <a:srgbClr val="C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7F47F7-AAB4-EF54-66DA-6F4C14DA2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064" y="1690688"/>
            <a:ext cx="3163347" cy="21710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21C91A-4A2D-6E34-7925-0DADFDFC4F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687" y="4211041"/>
            <a:ext cx="2333951" cy="22577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448143B-3ECF-0610-5B1F-CBACAB84A783}"/>
              </a:ext>
            </a:extLst>
          </p:cNvPr>
          <p:cNvSpPr txBox="1"/>
          <p:nvPr/>
        </p:nvSpPr>
        <p:spPr>
          <a:xfrm>
            <a:off x="5232210" y="1690688"/>
            <a:ext cx="586672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</a:t>
            </a:r>
            <a:b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Legal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has the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average salary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followed by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Engineering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indicating higher compensation in specialized roles.</a:t>
            </a:r>
          </a:p>
          <a:p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  <a:b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Salary distribution varies significantly across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departments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with technical and specialized domains receiving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average pay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4183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AC29C-1660-7F3D-2DDC-7DDF9A1FA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4369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Who are the top 5 highest-paid employees?</a:t>
            </a:r>
            <a:endParaRPr lang="en-IN" b="1" dirty="0">
              <a:solidFill>
                <a:srgbClr val="C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154A0-0CBF-0216-455D-58DFB6346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018" y="1429445"/>
            <a:ext cx="4887007" cy="24196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4A845A-2FFD-343A-4AB1-C9ADA52C7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675" y="4155678"/>
            <a:ext cx="2524477" cy="17147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1DE2449-1BAD-94A0-9574-F595436CF1B5}"/>
              </a:ext>
            </a:extLst>
          </p:cNvPr>
          <p:cNvSpPr txBox="1"/>
          <p:nvPr/>
        </p:nvSpPr>
        <p:spPr>
          <a:xfrm>
            <a:off x="6015025" y="1820708"/>
            <a:ext cx="556467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</a:t>
            </a:r>
            <a:b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Ingrid Adams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the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highest-paid employee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followed by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John Baker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with top salaries concentrated among a few individuals.</a:t>
            </a:r>
          </a:p>
          <a:p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  <a:b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salary structure shows a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clear compensation hierarchy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with significant pay differences among top-performing employees.</a:t>
            </a:r>
          </a:p>
          <a:p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95102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C32FE-DB7A-078D-19BB-756A52C12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7561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What is the total salary expenditure across the company?</a:t>
            </a:r>
            <a:endParaRPr lang="en-IN" b="1" dirty="0">
              <a:solidFill>
                <a:srgbClr val="C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CBDBB7-F48A-C5F3-A28F-38A1625ACE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115" y="1803967"/>
            <a:ext cx="5953956" cy="12384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3E37AA-C63F-5B87-DCB9-15A28B04B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0112" y="2025533"/>
            <a:ext cx="1886213" cy="5525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CCB4219-681F-BE81-54F6-4328C6423DD8}"/>
              </a:ext>
            </a:extLst>
          </p:cNvPr>
          <p:cNvSpPr txBox="1"/>
          <p:nvPr/>
        </p:nvSpPr>
        <p:spPr>
          <a:xfrm>
            <a:off x="561216" y="3429000"/>
            <a:ext cx="1163078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</a:t>
            </a:r>
            <a:b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company’s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salary expenditure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including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bonuses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amounts to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4,951,700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reflecting overall compensation cost.</a:t>
            </a:r>
          </a:p>
          <a:p>
            <a:pPr marL="114300" indent="0">
              <a:buNone/>
            </a:pP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  <a:b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Employee compensation represents a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significant financial commitment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highlighting the importance of effective payroll and budget management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51858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807B6-0911-F13E-4E00-053D63FD4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2. JOB ROLE AND DEPARTMENT ANALYSIS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How many different job roles exist in each department?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2C985A-097E-BAC9-10EB-F21BDEBC3F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176757"/>
            <a:ext cx="3814720" cy="4000205"/>
          </a:xfrm>
        </p:spPr>
        <p:txBody>
          <a:bodyPr/>
          <a:lstStyle/>
          <a:p>
            <a:r>
              <a:rPr lang="en-IN" dirty="0"/>
              <a:t>                                         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0E6125-8FE4-5CCC-7909-D22222EAA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957" y="2519056"/>
            <a:ext cx="3400900" cy="11622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812713-4965-F25E-9EA7-FE60B34AD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372" y="3956570"/>
            <a:ext cx="1991003" cy="222916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AF8D6DC-E32F-3EB1-DFED-DE6CB0219744}"/>
              </a:ext>
            </a:extLst>
          </p:cNvPr>
          <p:cNvSpPr txBox="1"/>
          <p:nvPr/>
        </p:nvSpPr>
        <p:spPr>
          <a:xfrm>
            <a:off x="4925092" y="2314322"/>
            <a:ext cx="693487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</a:t>
            </a:r>
            <a:b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Finance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have the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number of job roles (9 each)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indicating broader functional diversity in these departments.</a:t>
            </a:r>
          </a:p>
          <a:p>
            <a:r>
              <a:rPr lang="en-US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  <a:b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Departments like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Finance and IT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show greater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role specialization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while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Legal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has the least structural complexity.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4112547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C7A3A-A4C1-38F7-3338-02DE69BFA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037" y="195193"/>
            <a:ext cx="11773912" cy="1325563"/>
          </a:xfrm>
        </p:spPr>
        <p:txBody>
          <a:bodyPr>
            <a:normAutofit/>
          </a:bodyPr>
          <a:lstStyle/>
          <a:p>
            <a:r>
              <a:rPr lang="en-US" sz="4200" b="1" dirty="0">
                <a:solidFill>
                  <a:srgbClr val="C00000"/>
                </a:solidFill>
              </a:rPr>
              <a:t>What is the average salary range per department?</a:t>
            </a:r>
            <a:endParaRPr lang="en-IN" sz="4200" b="1" dirty="0">
              <a:solidFill>
                <a:srgbClr val="C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771C3D-3EB4-D872-0A44-A4A8F9137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20756"/>
            <a:ext cx="4163006" cy="18004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AF2A45-6183-FB8C-6786-560A64617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377" y="1520756"/>
            <a:ext cx="2181529" cy="224821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E7FB023-ED41-9A6C-70DB-2EF24F85B709}"/>
              </a:ext>
            </a:extLst>
          </p:cNvPr>
          <p:cNvSpPr txBox="1"/>
          <p:nvPr/>
        </p:nvSpPr>
        <p:spPr>
          <a:xfrm>
            <a:off x="838200" y="4069794"/>
            <a:ext cx="1100044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</a:t>
            </a:r>
            <a:b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Legal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have the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average salary range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while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HR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has the lowest among departments.</a:t>
            </a:r>
          </a:p>
          <a:p>
            <a:pPr marL="114300" indent="0">
              <a:buNone/>
            </a:pP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  <a:b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Salary distribution is relatively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balanced across departments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with slight variations reflecting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role complexity and responsibility levels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099056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CEE3E-8954-847E-5998-09DC4EE0E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Which job roles offer the highest salary?</a:t>
            </a:r>
            <a:endParaRPr lang="en-IN" b="1" dirty="0">
              <a:solidFill>
                <a:srgbClr val="C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2B8D94-4252-8511-EA76-891E84387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4267796" cy="21148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AAB291-2010-D87E-C599-B7C384A18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769847"/>
            <a:ext cx="2934109" cy="153373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517A975-3F49-05F3-8419-576A7D46844C}"/>
              </a:ext>
            </a:extLst>
          </p:cNvPr>
          <p:cNvSpPr txBox="1"/>
          <p:nvPr/>
        </p:nvSpPr>
        <p:spPr>
          <a:xfrm>
            <a:off x="838199" y="4103555"/>
            <a:ext cx="1092761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</a:t>
            </a:r>
            <a:b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Finance Director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role has the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salary (170,000)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followed by other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Director-level positions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indicating top-tier compensation at leadership levels.</a:t>
            </a:r>
          </a:p>
          <a:p>
            <a:pPr marL="114300" indent="0">
              <a:buNone/>
            </a:pP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  <a:b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Salary structure is strongly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hierarchical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with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senior management roles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receiving significantly higher pay than other positions.</a:t>
            </a:r>
          </a:p>
        </p:txBody>
      </p:sp>
    </p:spTree>
    <p:extLst>
      <p:ext uri="{BB962C8B-B14F-4D97-AF65-F5344CB8AC3E}">
        <p14:creationId xmlns:p14="http://schemas.microsoft.com/office/powerpoint/2010/main" val="9276010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ADCAF-19D8-7B28-2557-134FC0CB2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840" y="122363"/>
            <a:ext cx="11709175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</a:rPr>
              <a:t>Which departments have the highest total salary allocation?</a:t>
            </a:r>
            <a:endParaRPr lang="en-IN" sz="3600" b="1" dirty="0">
              <a:solidFill>
                <a:srgbClr val="C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566737-7E5D-AD0E-406A-67AC32EF8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65340"/>
            <a:ext cx="4877481" cy="24006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BBC1F6-26B6-7C2D-4373-AF31BE300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5919" y="1265340"/>
            <a:ext cx="2057687" cy="22577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20C2FC8-FC84-8B92-D69C-F6381793B48F}"/>
              </a:ext>
            </a:extLst>
          </p:cNvPr>
          <p:cNvSpPr txBox="1"/>
          <p:nvPr/>
        </p:nvSpPr>
        <p:spPr>
          <a:xfrm>
            <a:off x="838200" y="3947280"/>
            <a:ext cx="1093571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</a:t>
            </a:r>
            <a:b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Finance department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has the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total salary allocation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followed closely by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indicating major investment in financial and technical operations.</a:t>
            </a:r>
          </a:p>
          <a:p>
            <a:pPr marL="114300" indent="0">
              <a:buNone/>
            </a:pP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  <a:b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 distribution shows that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 operational departments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receive the largest share of compensation spending, reflecting their strategic importance.</a:t>
            </a:r>
          </a:p>
        </p:txBody>
      </p:sp>
    </p:spTree>
    <p:extLst>
      <p:ext uri="{BB962C8B-B14F-4D97-AF65-F5344CB8AC3E}">
        <p14:creationId xmlns:p14="http://schemas.microsoft.com/office/powerpoint/2010/main" val="33604267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DE563-6B51-405E-18CA-73DDF8ECE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062" y="-34615"/>
            <a:ext cx="11620162" cy="1325563"/>
          </a:xfrm>
        </p:spPr>
        <p:txBody>
          <a:bodyPr>
            <a:normAutofit fontScale="90000"/>
          </a:bodyPr>
          <a:lstStyle/>
          <a:p>
            <a:pPr algn="ctr">
              <a:spcBef>
                <a:spcPts val="1200"/>
              </a:spcBef>
              <a:spcAft>
                <a:spcPts val="1200"/>
              </a:spcAft>
            </a:pPr>
            <a:br>
              <a:rPr lang="en-US" dirty="0"/>
            </a:br>
            <a:br>
              <a:rPr lang="en-US" dirty="0"/>
            </a:br>
            <a:r>
              <a:rPr lang="en-US" b="1" dirty="0">
                <a:solidFill>
                  <a:srgbClr val="C00000"/>
                </a:solidFill>
              </a:rPr>
              <a:t>5. PAYROLL AND COMPENSATION ANALYSIS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What is the average bonus given per department?</a:t>
            </a:r>
            <a:br>
              <a:rPr lang="en-US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F3CA36-1C2B-62FE-7EC0-73D4C541D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635" y="1749185"/>
            <a:ext cx="4477375" cy="15146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88F25E-A967-7E63-F5FB-86A818275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702" y="1676357"/>
            <a:ext cx="2343477" cy="22577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E6696E5-D982-9B23-9DD6-F0BE6AD4BE91}"/>
              </a:ext>
            </a:extLst>
          </p:cNvPr>
          <p:cNvSpPr txBox="1"/>
          <p:nvPr/>
        </p:nvSpPr>
        <p:spPr>
          <a:xfrm>
            <a:off x="698275" y="4180344"/>
            <a:ext cx="1111373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</a:t>
            </a:r>
            <a:b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Legal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Engineering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departments have the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average bonus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indicating stronger performance-based incentives in specialized roles.</a:t>
            </a:r>
          </a:p>
          <a:p>
            <a:pPr marL="114300" indent="0">
              <a:buNone/>
            </a:pP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  <a:b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Bonus distribution varies across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departments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with technical and high-responsibility areas receiving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incentive compensation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23458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9EE6E-69FB-61B5-FDDB-3718E37CA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Which department receives the highest total bonuses?</a:t>
            </a:r>
            <a:br>
              <a:rPr lang="en-US" b="1" dirty="0">
                <a:solidFill>
                  <a:srgbClr val="C00000"/>
                </a:solidFill>
              </a:rPr>
            </a:b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D178AE-3AD6-77C1-4FA1-BD673C1DD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919446"/>
            <a:ext cx="10515600" cy="2487915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INSIGHT</a:t>
            </a:r>
            <a:br>
              <a:rPr lang="en-US" sz="2400" dirty="0"/>
            </a:br>
            <a:r>
              <a:rPr lang="en-US" sz="2400" dirty="0"/>
              <a:t>The </a:t>
            </a:r>
            <a:r>
              <a:rPr lang="en-US" sz="2400" b="1" dirty="0"/>
              <a:t>Finance department</a:t>
            </a:r>
            <a:r>
              <a:rPr lang="en-US" sz="2400" dirty="0"/>
              <a:t> has the </a:t>
            </a:r>
            <a:r>
              <a:rPr lang="en-US" sz="2400" b="1" dirty="0"/>
              <a:t>highest total bonus allocation</a:t>
            </a:r>
            <a:r>
              <a:rPr lang="en-US" sz="2400" dirty="0"/>
              <a:t>, followed by </a:t>
            </a:r>
            <a:r>
              <a:rPr lang="en-US" sz="2400" b="1" dirty="0"/>
              <a:t>IT</a:t>
            </a:r>
            <a:r>
              <a:rPr lang="en-US" sz="2400" dirty="0"/>
              <a:t>, indicating stronger incentive payouts in core operational areas.</a:t>
            </a:r>
          </a:p>
          <a:p>
            <a:pPr marL="11430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CONCLUSION</a:t>
            </a:r>
            <a:br>
              <a:rPr lang="en-US" sz="2400" dirty="0"/>
            </a:br>
            <a:r>
              <a:rPr lang="en-US" sz="2400" dirty="0"/>
              <a:t>Bonus distribution reflects the company’s </a:t>
            </a:r>
            <a:r>
              <a:rPr lang="en-US" sz="2400" b="1" dirty="0"/>
              <a:t>performance priorities</a:t>
            </a:r>
            <a:r>
              <a:rPr lang="en-US" sz="2400" dirty="0"/>
              <a:t>, with major departments receiving the largest share of incentive rewards.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67DE72-D91D-D4C9-FFD9-FBE7F0FEA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606" y="1825625"/>
            <a:ext cx="4467849" cy="18100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E55321-84D1-6F3A-F004-51807F32BE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506" y="1690688"/>
            <a:ext cx="2210108" cy="225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4323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0A446-57A0-7602-58EF-584590F89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Challenges Faced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D1B1EB-AEE4-0FF1-8139-3B3A65B6ECAB}"/>
              </a:ext>
            </a:extLst>
          </p:cNvPr>
          <p:cNvSpPr txBox="1"/>
          <p:nvPr/>
        </p:nvSpPr>
        <p:spPr>
          <a:xfrm>
            <a:off x="838200" y="1553670"/>
            <a:ext cx="10757687" cy="4108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Defining accurate </a:t>
            </a:r>
            <a:r>
              <a:rPr lang="en-US" sz="2400" b="1" dirty="0"/>
              <a:t>table relationships</a:t>
            </a:r>
            <a:r>
              <a:rPr lang="en-US" sz="2400" dirty="0"/>
              <a:t> and implementing proper </a:t>
            </a:r>
            <a:r>
              <a:rPr lang="en-US" sz="2400" b="1" dirty="0"/>
              <a:t>primary and foreign key constraints</a:t>
            </a:r>
            <a:r>
              <a:rPr lang="en-US" sz="2400" dirty="0"/>
              <a:t> to maintain referential integrity.</a:t>
            </a:r>
          </a:p>
          <a:p>
            <a:pPr marL="342900" indent="-3429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Ensuring </a:t>
            </a:r>
            <a:r>
              <a:rPr lang="en-US" sz="2400" b="1" dirty="0"/>
              <a:t>data consistency and integrity</a:t>
            </a:r>
            <a:r>
              <a:rPr lang="en-US" sz="2400" dirty="0"/>
              <a:t> while handling </a:t>
            </a:r>
            <a:r>
              <a:rPr lang="en-US" sz="2400" b="1" dirty="0"/>
              <a:t>cascading updates and deletes</a:t>
            </a:r>
            <a:r>
              <a:rPr lang="en-US" sz="2400" dirty="0"/>
              <a:t> across interrelated tables.</a:t>
            </a:r>
          </a:p>
          <a:p>
            <a:pPr marL="342900" indent="-3429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Writing </a:t>
            </a:r>
            <a:r>
              <a:rPr lang="en-US" sz="2400" b="1" dirty="0"/>
              <a:t>complex multi-table JOIN queries</a:t>
            </a:r>
            <a:r>
              <a:rPr lang="en-US" sz="2400" dirty="0"/>
              <a:t> for reports involving employee roles, salary, leaves, and payroll calculations.</a:t>
            </a:r>
          </a:p>
          <a:p>
            <a:pPr marL="342900" indent="-3429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Preventing </a:t>
            </a:r>
            <a:r>
              <a:rPr lang="en-US" sz="2400" b="1" dirty="0"/>
              <a:t>duplicate records</a:t>
            </a:r>
            <a:r>
              <a:rPr lang="en-US" sz="2400" dirty="0"/>
              <a:t> by enforcing </a:t>
            </a:r>
            <a:r>
              <a:rPr lang="en-US" sz="2400" b="1" dirty="0"/>
              <a:t>UNIQUE constraints</a:t>
            </a:r>
            <a:r>
              <a:rPr lang="en-US" sz="2400" dirty="0"/>
              <a:t>, particularly on critical fields such as employee email IDs.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96062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C2107-536D-BA35-0B44-24563A870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180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Final Business Insights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C94FC77-7013-9021-36CE-9C0438B35F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60673"/>
            <a:ext cx="11040908" cy="5232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The </a:t>
            </a:r>
            <a:r>
              <a:rPr lang="en-US" sz="2200" b="1" dirty="0"/>
              <a:t>Finance</a:t>
            </a:r>
            <a:r>
              <a:rPr lang="en-US" sz="2200" dirty="0"/>
              <a:t> and </a:t>
            </a:r>
            <a:r>
              <a:rPr lang="en-US" sz="2200" b="1" dirty="0"/>
              <a:t>IT</a:t>
            </a:r>
            <a:r>
              <a:rPr lang="en-US" sz="2200" dirty="0"/>
              <a:t> departments have the </a:t>
            </a:r>
            <a:r>
              <a:rPr lang="en-US" sz="2200" b="1" dirty="0"/>
              <a:t>highest employee strength and salary allocation</a:t>
            </a:r>
            <a:r>
              <a:rPr lang="en-US" sz="2200" dirty="0"/>
              <a:t>, indicating their strategic importance to the organization.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200" b="1" dirty="0"/>
              <a:t>Director-level and senior management roles</a:t>
            </a:r>
            <a:r>
              <a:rPr lang="en-US" sz="2200" dirty="0"/>
              <a:t> receive the </a:t>
            </a:r>
            <a:r>
              <a:rPr lang="en-US" sz="2200" b="1" dirty="0"/>
              <a:t>highest compensation</a:t>
            </a:r>
            <a:r>
              <a:rPr lang="en-US" sz="2200" dirty="0"/>
              <a:t>, reflecting a clearly defined hierarchical pay structure.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The </a:t>
            </a:r>
            <a:r>
              <a:rPr lang="en-US" sz="2200" b="1" dirty="0"/>
              <a:t>Legal and Engineering departments</a:t>
            </a:r>
            <a:r>
              <a:rPr lang="en-US" sz="2200" dirty="0"/>
              <a:t> show higher </a:t>
            </a:r>
            <a:r>
              <a:rPr lang="en-US" sz="2200" b="1" dirty="0"/>
              <a:t>average salaries and bonuses</a:t>
            </a:r>
            <a:r>
              <a:rPr lang="en-US" sz="2200" dirty="0"/>
              <a:t>, suggesting specialized expertise commands premium compensation.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Overall payroll analysis reveals that </a:t>
            </a:r>
            <a:r>
              <a:rPr lang="en-US" sz="2200" b="1" dirty="0"/>
              <a:t>salary and bonus expenditures represent a major financial commitment</a:t>
            </a:r>
            <a:r>
              <a:rPr lang="en-US" sz="2200" dirty="0"/>
              <a:t>, emphasizing the need for efficient budget management.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Workforce and compensation distribution are </a:t>
            </a:r>
            <a:r>
              <a:rPr lang="en-US" sz="2200" b="1" dirty="0"/>
              <a:t>balanced but strategically prioritized</a:t>
            </a:r>
            <a:r>
              <a:rPr lang="en-US" sz="2200" dirty="0"/>
              <a:t>, aligning resources with core operational and revenue-driving departments.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033456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FC6F5-EF07-CB96-A26B-A8D6516F4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RECOMMENDATIONS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DACB96-6678-5D2C-F8A1-2419FA0F04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798744" cy="4351338"/>
          </a:xfrm>
        </p:spPr>
        <p:txBody>
          <a:bodyPr/>
          <a:lstStyle/>
          <a:p>
            <a:r>
              <a:rPr lang="en-US" dirty="0"/>
              <a:t>Optimize </a:t>
            </a:r>
            <a:r>
              <a:rPr lang="en-US" b="1" dirty="0"/>
              <a:t>salary and bonus allocation</a:t>
            </a:r>
            <a:r>
              <a:rPr lang="en-US" dirty="0"/>
              <a:t> by regularly analyzing department-wise payroll trends to ensure cost efficiency.</a:t>
            </a:r>
          </a:p>
          <a:p>
            <a:r>
              <a:rPr lang="en-US" dirty="0"/>
              <a:t>Focus on strengthening </a:t>
            </a:r>
            <a:r>
              <a:rPr lang="en-US" b="1" dirty="0"/>
              <a:t>core departments (Finance and IT)</a:t>
            </a:r>
            <a:r>
              <a:rPr lang="en-US" dirty="0"/>
              <a:t> through strategic workforce planning and skill development.</a:t>
            </a:r>
          </a:p>
          <a:p>
            <a:r>
              <a:rPr lang="en-US" dirty="0"/>
              <a:t>Implement periodic reviews of </a:t>
            </a:r>
            <a:r>
              <a:rPr lang="en-US" b="1" dirty="0"/>
              <a:t>leave patterns and compensation structures</a:t>
            </a:r>
            <a:r>
              <a:rPr lang="en-US" dirty="0"/>
              <a:t> to improve productivity and resource utilization.</a:t>
            </a:r>
          </a:p>
          <a:p>
            <a:r>
              <a:rPr lang="en-US" dirty="0"/>
              <a:t>Use data-driven insights to support </a:t>
            </a:r>
            <a:r>
              <a:rPr lang="en-US" b="1" dirty="0"/>
              <a:t>performance-based incentives, budgeting decisions, and long-term HR planning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20029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B5B69-CFC2-CC83-11D9-280D3A916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150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Conclusion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0CE5D2-3F6B-9D7D-62A2-F50D8E7C7B7F}"/>
              </a:ext>
            </a:extLst>
          </p:cNvPr>
          <p:cNvSpPr txBox="1"/>
          <p:nvPr/>
        </p:nvSpPr>
        <p:spPr>
          <a:xfrm>
            <a:off x="1335187" y="1439713"/>
            <a:ext cx="10115044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Employee Management System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provides structured insights into </a:t>
            </a:r>
            <a:r>
              <a:rPr lang="en-US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workforce distribution, salary allocation, bonuses, and payroll trends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analysis highlights a clear </a:t>
            </a:r>
            <a:r>
              <a:rPr lang="en-US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hierarchical compensation structure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strategic investment in </a:t>
            </a:r>
            <a:r>
              <a:rPr lang="en-US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 departments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supporting data-driven HR and financial decision-making.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36373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100,700+ Q And A Stock Photos, Pictures &amp; Royalty-Free Images - iStock | Questions, Faq icon, Faq infographic">
            <a:extLst>
              <a:ext uri="{FF2B5EF4-FFF2-40B4-BE49-F238E27FC236}">
                <a16:creationId xmlns:a16="http://schemas.microsoft.com/office/drawing/2014/main" id="{B39AF47C-EC71-7E86-D02A-8E90ACCF46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806" y="1372444"/>
            <a:ext cx="6572388" cy="4113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06062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2854</TotalTime>
  <Words>1136</Words>
  <Application>Microsoft Office PowerPoint</Application>
  <PresentationFormat>Widescreen</PresentationFormat>
  <Paragraphs>110</Paragraphs>
  <Slides>24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Libre Baskerville</vt:lpstr>
      <vt:lpstr>Calibri</vt:lpstr>
      <vt:lpstr>Office Theme</vt:lpstr>
      <vt:lpstr>PowerPoint Presentation</vt:lpstr>
      <vt:lpstr>Agenda</vt:lpstr>
      <vt:lpstr>BUSINESS PROBLEM</vt:lpstr>
      <vt:lpstr>Introduction</vt:lpstr>
      <vt:lpstr>Objective of the Project </vt:lpstr>
      <vt:lpstr> Database – Tables Overview</vt:lpstr>
      <vt:lpstr>ER DIAGRAM</vt:lpstr>
      <vt:lpstr>CARDINALITIES </vt:lpstr>
      <vt:lpstr>Which departments have the highest number of employees?</vt:lpstr>
      <vt:lpstr>What is the average salary per department?</vt:lpstr>
      <vt:lpstr>Who are the top 5 highest-paid employees?</vt:lpstr>
      <vt:lpstr>What is the total salary expenditure across the company?</vt:lpstr>
      <vt:lpstr> 2. JOB ROLE AND DEPARTMENT ANALYSIS How many different job roles exist in each department?</vt:lpstr>
      <vt:lpstr>What is the average salary range per department?</vt:lpstr>
      <vt:lpstr>Which job roles offer the highest salary?</vt:lpstr>
      <vt:lpstr>Which departments have the highest total salary allocation?</vt:lpstr>
      <vt:lpstr>  5. PAYROLL AND COMPENSATION ANALYSIS What is the average bonus given per department? </vt:lpstr>
      <vt:lpstr>Which department receives the highest total bonuses? </vt:lpstr>
      <vt:lpstr>Challenges Faced</vt:lpstr>
      <vt:lpstr>Final Business Insights </vt:lpstr>
      <vt:lpstr>RECOMMENDATIONS</vt:lpstr>
      <vt:lpstr>Conclusion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Nishanth Reddy</cp:lastModifiedBy>
  <cp:revision>8</cp:revision>
  <dcterms:created xsi:type="dcterms:W3CDTF">2021-02-16T05:19:01Z</dcterms:created>
  <dcterms:modified xsi:type="dcterms:W3CDTF">2026-02-14T04:25:53Z</dcterms:modified>
</cp:coreProperties>
</file>